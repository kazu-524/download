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フェーズ別 正味工数（合計 102.4h）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正味工数(h)</c:v>
                </c:pt>
              </c:strCache>
            </c:strRef>
          </c:tx>
          <c:dPt>
            <c:idx val="0"/>
            <c:spPr>
              <a:solidFill>
                <a:srgbClr val="4E7C8A"/>
              </a:solidFill>
            </c:spPr>
          </c:dPt>
          <c:dPt>
            <c:idx val="1"/>
            <c:spPr>
              <a:solidFill>
                <a:srgbClr val="C25E00"/>
              </a:solidFill>
            </c:spPr>
          </c:dPt>
          <c:dPt>
            <c:idx val="2"/>
            <c:spPr>
              <a:solidFill>
                <a:srgbClr val="A8BEC7"/>
              </a:solidFill>
            </c:spPr>
          </c:dPt>
          <c:dPt>
            <c:idx val="3"/>
            <c:spPr>
              <a:solidFill>
                <a:srgbClr val="4E7C8A"/>
              </a:solidFill>
            </c:spPr>
          </c:dPt>
          <c:cat>
            <c:strRef>
              <c:f>Sheet1!$A$2:$A$5</c:f>
              <c:strCache>
                <c:ptCount val="4"/>
                <c:pt idx="0">
                  <c:v>計画</c:v>
                </c:pt>
                <c:pt idx="1">
                  <c:v>実施</c:v>
                </c:pt>
                <c:pt idx="2">
                  <c:v>移動</c:v>
                </c:pt>
                <c:pt idx="3">
                  <c:v>報告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21.0</c:v>
                </c:pt>
                <c:pt idx="1">
                  <c:v>44.2</c:v>
                </c:pt>
                <c:pt idx="2">
                  <c:v>4.0</c:v>
                </c:pt>
                <c:pt idx="3">
                  <c:v>33.2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2130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3DBDF"/>
            </a:solidFill>
          </a:ln>
        </c:spPr>
        <c:txPr>
          <a:bodyPr/>
          <a:lstStyle/>
          <a:p>
            <a:pPr>
              <a:defRPr sz="1150">
                <a:solidFill>
                  <a:srgbClr val="2130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3DBD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A8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B7A82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見積りの型を全員で共有するための資料。基本単位は1時間、積み上げはタスクベース、対外的な提示は人日ベース、という3点をまず押さえてもらう。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属人性・説明力・計画根拠の3点が課題。型を入れる目的は精緻化そのものではなく、議論できる共通言語をつくること。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ステップ1が本丸。2と3は機械的な処理なので、議論はステップ1の原単位に集中させる。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ここが一番間違いやすい。7.0hで割ってしまう見積りが多いが、それだと2割足りなくなる。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係数を増やしたくなるが、増やすほど誰も検証できなくなる。3種類に絞るのが運用のコツ。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証憑テストの0.4h/件が全体を大きく動かす。サンプル件数の決め方と必ずセットで議論する。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報告書は指摘件数で決まる。指摘が多い監査ほど後工程が膨らむことを共有する。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習熟は「人」ではなく「部門の資産＝前回調書」で判定する。見積りは担当割当より先に確定させる必要があるため、この定義でないと運用できない。副次的に、調書を再利用可能な形で残すと1.3→1.0、工数30%減として効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レンジで出すことで、後から前提が変わったときに再見積りの会話がしやすくなる。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初回のため習熟1.3が効いている。2回目以降は同条件で約26人日まで下がる想定。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ルール①はよく誤解される。8h超で機械的に割るのではない。0.4h×40件=16hの行は、すでに0.4hまで分解済みなので割っても情報量は増えない。特に3番目。乖離理由を分類せずに原単位をいじると、数字が誰にも説明でき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この質問はメンバーから必ず出るので先回りしておく。見積りの粒度は、実績で検証できる粒度を超えてはいけない、というのが原則。実績記録が個人評価に使われないことも、ここで明言しておく。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シートは3枚に固定する。増やすと誰も更新しなくなる。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この場で決めたいのは稼働率と管理率の初期値。残りは走らせながら調整でよい。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監査部｜内部説明資料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内部監査 工数見積りの標準化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1時間を最小単位に、タスクで積み上げ、人日で示す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94760"/>
            <a:ext cx="3346704" cy="1207008"/>
          </a:xfrm>
          <a:prstGeom prst="roundRect">
            <a:avLst>
              <a:gd name="adj" fmla="val 8000"/>
            </a:avLst>
          </a:prstGeom>
          <a:solidFill>
            <a:srgbClr val="1E2E37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400507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4498848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最小計上単位（0.5h刻み）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3794760"/>
            <a:ext cx="3346704" cy="1207008"/>
          </a:xfrm>
          <a:prstGeom prst="roundRect">
            <a:avLst>
              <a:gd name="adj" fmla="val 8000"/>
            </a:avLst>
          </a:prstGeom>
          <a:solidFill>
            <a:srgbClr val="1E2E37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400507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6.0h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4" y="4498848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1人日の正味時間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3794760"/>
            <a:ext cx="3346704" cy="1207008"/>
          </a:xfrm>
          <a:prstGeom prst="roundRect">
            <a:avLst>
              <a:gd name="adj" fmla="val 8000"/>
            </a:avLst>
          </a:prstGeom>
          <a:solidFill>
            <a:srgbClr val="1E2E37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005072"/>
            <a:ext cx="27614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±レンジ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98848"/>
            <a:ext cx="2761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基準値と幅で提示する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2026年8月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なぜ、見積りの「型」が必要か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527048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7864" y="1508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見積りが人に依存する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856231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担当が変われば、同じ監査でも工数が倍近くぶれる。根拠が本人の頭の中にしかない。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852927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283463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予実の差を説明できない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7864" y="3182111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「思ったより時間がかかった」で終わり、次の見積りに反映されない。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178807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1605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年間計画の根拠が弱い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7864" y="4507992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監査本数と要員数の妥当性を、数字で経営に説明できない。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148072" cy="4160520"/>
          </a:xfrm>
          <a:prstGeom prst="roundRect">
            <a:avLst>
              <a:gd name="adj" fmla="val 6000"/>
            </a:avLst>
          </a:prstGeom>
          <a:solidFill>
            <a:srgbClr val="21303A"/>
          </a:solidFill>
          <a:ln w="12700">
            <a:solidFill>
              <a:srgbClr val="21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783080"/>
            <a:ext cx="44165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目指す姿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487168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395728"/>
            <a:ext cx="4142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同じ土俵で見積る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06624"/>
            <a:ext cx="4142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原単位 × 数量 で誰でも同じ数字が出せる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3511296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3419856"/>
            <a:ext cx="4142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実績で精度が上がる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730752"/>
            <a:ext cx="4142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毎年、原単位マスタを実績で改定する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4535424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443984"/>
            <a:ext cx="4142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そのまま計画に接続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754880"/>
            <a:ext cx="4142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人日で出すので要員計画・年間計画に直結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全体像：3ステップで人日に落とす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813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737360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048256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タスクで積む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542032"/>
            <a:ext cx="27797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標準タスクカタログの原単位 ×
数量ドライバ で正味時間(h)を出す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0791" y="233172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813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5736" y="1737360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2048256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係数で調整する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542032"/>
            <a:ext cx="27797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難易度・習熟・体制で補正し、
管理工数とバッファを率で上乗せ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2" y="233172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81328"/>
            <a:ext cx="3401568" cy="2212848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6" y="1737360"/>
            <a:ext cx="27797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2048256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人日で示す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6" y="2542032"/>
            <a:ext cx="27797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正味6.0h/日で割り、基準値と
レンジ（幅）をセットで提示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6908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この3ステップを、1枚のシートで完結させる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単位の定義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49525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9525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タスクカタログ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4690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4690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数量ドライバ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9855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9855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5020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5020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管理・バッファ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0186" y="4498848"/>
            <a:ext cx="1727149" cy="530352"/>
          </a:xfrm>
          <a:prstGeom prst="roundRect">
            <a:avLst>
              <a:gd name="adj" fmla="val 25000"/>
            </a:avLst>
          </a:prstGeom>
          <a:solidFill>
            <a:srgbClr val="E4EDF0"/>
          </a:solidFill>
          <a:ln w="9525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0186" y="4654296"/>
            <a:ext cx="172714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実績で改定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358384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精緻さより再現性。まず全員が同じ手順を踏めることを優先する。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1 － 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単位と換算ルール（ここを最初に固定する）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63040"/>
            <a:ext cx="3545738" cy="184708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00784"/>
            <a:ext cx="296052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395728"/>
            <a:ext cx="29605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最小計上単位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06624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記入は0.5h刻み。これ以下は分けない。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2978" y="1463040"/>
            <a:ext cx="3545738" cy="184708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5586" y="1700784"/>
            <a:ext cx="296052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7.0h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5586" y="2395728"/>
            <a:ext cx="29605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1人日＝拘束時間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5586" y="2706624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所定労働時間。日数の会話はこの単位。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1463040"/>
            <a:ext cx="3545738" cy="1847088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4204" y="1700784"/>
            <a:ext cx="296052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6.0h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4204" y="2395728"/>
            <a:ext cx="29605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1人日＝正味時間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4204" y="2706624"/>
            <a:ext cx="29605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稼働率85%。換算にはこちらを使う。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29584"/>
            <a:ext cx="11002975" cy="1298448"/>
          </a:xfrm>
          <a:prstGeom prst="roundRect">
            <a:avLst>
              <a:gd name="adj" fmla="val 6000"/>
            </a:avLst>
          </a:prstGeom>
          <a:solidFill>
            <a:srgbClr val="21303A"/>
          </a:solidFill>
          <a:ln w="12700">
            <a:solidFill>
              <a:srgbClr val="21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749039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最重要ポイント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59936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タスクの原単位は「正味時間」で積み、人日換算のときだけ 6.0h で割る。7.0h で割ると、会議・メール・中断が原単位に入っていないぶん、必ず不足する。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029200"/>
            <a:ext cx="11002975" cy="100584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" y="52303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人日 ＝ 総正味工数(h) ÷ 6.0 → 0.5人日単位で切り上げ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5595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1人月 ＝ 20営業日 ＝ 140h（正味120h）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230368"/>
            <a:ext cx="48280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稼働率85%は初期値。実績の記録が溜まったら、部門の実態に合わせて見直す。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1 － 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見積りの基本式（3成分モデル）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44752"/>
            <a:ext cx="11002975" cy="1225296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102714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総工数 ＝（固定工数 ＋ 数量比例工数）× 難易度係数 × 習熟係数</a:t>
            </a:r>
          </a:p>
          <a:p>
            <a:pPr algn="ctr"/>
            <a:r>
              <a:rPr sz="17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＋ 管理工数（率） ＋ バッファ（率）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26080"/>
            <a:ext cx="2620441" cy="24871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3163824"/>
            <a:ext cx="347472" cy="347472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07180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固定工数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41648"/>
            <a:ext cx="207180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案件の規模に関わらず必ず発生する。計画書、往査通知、講評会、委員会報告など。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8537" y="2926080"/>
            <a:ext cx="2620441" cy="24871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62857" y="3163824"/>
            <a:ext cx="347472" cy="347472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2857" y="3657600"/>
            <a:ext cx="207180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数量比例工数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2857" y="4041648"/>
            <a:ext cx="207180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ドライバ × 原単位。サンプル件数、プロセス数、拠点数、指摘件数が主なドライバ。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2715" y="2926080"/>
            <a:ext cx="2620441" cy="24871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7035" y="3163824"/>
            <a:ext cx="347472" cy="347472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035" y="3657600"/>
            <a:ext cx="207180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035" y="4041648"/>
            <a:ext cx="207180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条件差を吸収する。難易度・習熟・体制の3種類だけに絞り、増やしすぎない。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6893" y="2926080"/>
            <a:ext cx="2620441" cy="24871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51213" y="3163824"/>
            <a:ext cx="347472" cy="347472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1213" y="3657600"/>
            <a:ext cx="207180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管理／バッファ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1213" y="4041648"/>
            <a:ext cx="207180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最後に率で上乗せする。個別タスクに埋め込むと、実績分析ができなくなる。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1 － 原単位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標準タスクカタログ ① 計画・実施フェーズ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26464"/>
          <a:ext cx="11000232" cy="4059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4617720"/>
                <a:gridCol w="2514600"/>
                <a:gridCol w="2633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フェーズ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タスク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原単位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数量ドライバ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計画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監査計画書・往査通知の作成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4.0h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計画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予備調査（規程・前回指摘・データ分析）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6.0h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計画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リスク評価・監査手続書の作成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8.0h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計画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事前資料の依頼・受領確認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3.0h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ウォークスルー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2.0h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プロセス数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ヒアリング（準備・議事録込み）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3.0h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セッション数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証憑テスト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0.4h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サンプル件数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データ抽出・突合（IT）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6.0h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対象システム数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監査調書の作成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テスト系工数 × 30%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派生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移動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実測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往査回数 × 人数（別建て）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76072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原単位はあくまで初期値。実績を記録し、年1回この表を改定していく前提で使う。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1 － 原単位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標準タスクカタログ ② 報告・フォローアップ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26464"/>
          <a:ext cx="11000232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4617720"/>
                <a:gridCol w="2514600"/>
                <a:gridCol w="263347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フェーズ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タスク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原単位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数量ドライバ</a:t>
                      </a:r>
                    </a:p>
                  </a:txBody>
                  <a:tcPr marL="128016" marR="91440" marT="36576" marB="36576" anchor="ctr">
                    <a:solidFill>
                      <a:srgbClr val="2130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発見事項の整理・裏付け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0.5h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発見事項数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講評会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2.0h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報告書ドラフト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8.0h ＋ 1.5h × 指摘数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 ＋ 比例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被監査部門の確認・回答受領調整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3.0h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部門数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レビュー指摘への対応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ドラフト工数 × 40%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派生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報告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監査委員会・取締役会報告資料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4.0h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</a:t>
                      </a:r>
                    </a:p>
                  </a:txBody>
                  <a:tcPr marL="128016" marR="91440" marT="36576" marB="36576" anchor="ctr">
                    <a:solidFill>
                      <a:srgbClr val="F1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4E7C8A"/>
                          </a:solidFill>
                          <a:latin typeface="Yu Gothic"/>
                          <a:ea typeface="Yu Gothic"/>
                          <a:cs typeface="Yu Gothic"/>
                        </a:rPr>
                        <a:t>FU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改善状況の確認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C25E00"/>
                          </a:solidFill>
                          <a:latin typeface="Yu Gothic"/>
                          <a:ea typeface="Yu Gothic"/>
                          <a:cs typeface="Yu Gothic"/>
                        </a:rPr>
                        <a:t>1.0h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1303A"/>
                          </a:solidFill>
                          <a:latin typeface="Yu Gothic"/>
                          <a:ea typeface="Yu Gothic"/>
                          <a:cs typeface="Yu Gothic"/>
                        </a:rPr>
                        <a:t>指摘数 × 確認回数</a:t>
                      </a:r>
                    </a:p>
                  </a:txBody>
                  <a:tcPr marL="128016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4360" y="4663440"/>
            <a:ext cx="5364327" cy="12984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4882896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フォローアップは別案件で見積る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5212080"/>
            <a:ext cx="4742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実施時期が数か月ずれるため、本体に混ぜると年度をまたいだ実績管理ができなくなる。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4663440"/>
            <a:ext cx="5364327" cy="12984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3903" y="4882896"/>
            <a:ext cx="474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派生工数（%指定）の扱い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903" y="5212080"/>
            <a:ext cx="4742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調書・レビュー対応は実績が溜まるまで固定率で運用し、後から率を実績で置き換える。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係数：条件差を吸収する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340096" cy="192024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1618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難易度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1911095"/>
            <a:ext cx="4681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対象業務の複雑さ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22199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定型的な業務監査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0872" y="22037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58775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新規領域・制度変更あり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5694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9535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IT統制／海外拠点／会計複雑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9352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417320"/>
            <a:ext cx="5340096" cy="192024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1848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習熟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11095"/>
            <a:ext cx="4681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前回調書の再利用可否で判定する（担当者は見ない）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2199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前回調書がない ／ 3年以上前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1008" y="22037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8775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1回分ある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51008" y="25694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535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2回分以上あり・前回から2年以内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51008" y="29352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474720"/>
            <a:ext cx="5340096" cy="192024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" y="367588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体制・管理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3968496"/>
            <a:ext cx="4681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人数と上位者の関与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" y="427939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単独 ／ 複数名（引継ぎロス）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42611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1.0 / 1.1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64515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監査責任者のレビュー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＋15%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50109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進捗管理・日程調整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9926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＋10%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4496" y="3474720"/>
            <a:ext cx="5340096" cy="192024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67588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バッファ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968496"/>
            <a:ext cx="46817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見積り時点の不確実性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27939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通常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426110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＋10%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64515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前提が固まっていない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46268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＋20%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0109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※ 必ず分けて計上する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49926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04688"/>
            <a:ext cx="11002975" cy="786384"/>
          </a:xfrm>
          <a:prstGeom prst="roundRect">
            <a:avLst>
              <a:gd name="adj" fmla="val 6000"/>
            </a:avLst>
          </a:prstGeom>
          <a:solidFill>
            <a:srgbClr val="21303A"/>
          </a:solidFill>
          <a:ln w="12700">
            <a:solidFill>
              <a:srgbClr val="21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5256" y="5715000"/>
            <a:ext cx="91440" cy="91440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4712" y="5632704"/>
            <a:ext cx="10143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係数の積は上限1.5でキャップ。新規領域はほぼ必ず初回なので、難易度1.3 × 習熟1.3 ＝ 1.69 は同じ現象の二重計上になる。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" y="6007608"/>
            <a:ext cx="91440" cy="91440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4712" y="5925312"/>
            <a:ext cx="10143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担当者の力量差は係数で扱わない（見積り時点では担当が未定）。基準値は動かさず、提示レンジの中で吸収する。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単一値で出さない：三点見積り（PERT）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44752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21303A"/>
          </a:solidFill>
          <a:ln w="12700">
            <a:solidFill>
              <a:srgbClr val="21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0078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主要タスクのみ、3つの値を置く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期待値 E ＝（楽観 ＋ 4×最頻 ＋ 悲観）÷ 6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標準偏差 σ ＝（悲観 − 楽観）÷ 6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提示 ＝ E ± 1σ（約68%のレンジ）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572768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81328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全タスクには適用しない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92224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工数の大きい上位タスクだけに絞る。全部やると運用が回らない。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2377440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28600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提示の形式を統一する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596896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「基準◯人日（◯〜◯人日）」で必ず書く。単一値は禁止。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182112"/>
            <a:ext cx="109728" cy="109728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090672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レンジは調整の余地になる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01568"/>
            <a:ext cx="53309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乖離を『見積りミス』でなく『前提の変化』として扱える。担当者の力量差も、基準値ではなくこのレンジの中で吸収する。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6052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提示イメージ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4956048"/>
            <a:ext cx="8595360" cy="201168"/>
          </a:xfrm>
          <a:prstGeom prst="roundRect">
            <a:avLst>
              <a:gd name="adj" fmla="val 50000"/>
            </a:avLst>
          </a:prstGeom>
          <a:solidFill>
            <a:srgbClr val="E7E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28950" y="4956048"/>
            <a:ext cx="4834890" cy="201168"/>
          </a:xfrm>
          <a:prstGeom prst="roundRect">
            <a:avLst>
              <a:gd name="adj" fmla="val 50000"/>
            </a:avLst>
          </a:prstGeom>
          <a:solidFill>
            <a:srgbClr val="FBEEE2"/>
          </a:solidFill>
          <a:ln w="9525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5786" y="4791456"/>
            <a:ext cx="64008" cy="530352"/>
          </a:xfrm>
          <a:prstGeom prst="rect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1950" y="44805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基準 31人日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7430" y="52852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楽観 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85232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悲観 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06440"/>
            <a:ext cx="11002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社内提示の統一フォーマット：　基準 31人日（27〜36人日）／2名・約16営業日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算定例：購買部門の業務監査（初回）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110029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前提　プロセス3本／ヒアリング4回／サンプル40件／想定指摘5件／担当2名／往査2日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700784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46520" y="1700784"/>
            <a:ext cx="5148072" cy="3246120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84848" y="19202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正味小計から総工数まで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3957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正味小計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23682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102.4h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96265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× 習熟 1.3（前回調書なし）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4120" y="2935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133.1h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5295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＋ 管理 25%（レビュー15%＋PM10%）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35021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166.4h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40965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＋ バッファ 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04120" y="40690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183.0h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59028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183.0h ÷ 6.0h ＝ 30.5人日 → 31人日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138928"/>
            <a:ext cx="11002975" cy="969264"/>
          </a:xfrm>
          <a:prstGeom prst="roundRect">
            <a:avLst>
              <a:gd name="adj" fmla="val 6000"/>
            </a:avLst>
          </a:prstGeom>
          <a:solidFill>
            <a:srgbClr val="21303A"/>
          </a:solidFill>
          <a:ln w="12700">
            <a:solidFill>
              <a:srgbClr val="213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5349240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基準 31人日（27〜36人日）／2名体制・約16営業日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4132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フォローアップは別途 1.7人日
（1.0h × 5指摘 × 2回）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形骸化させない4つのルール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44752"/>
            <a:ext cx="5340096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3544" y="1719072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792224"/>
            <a:ext cx="4151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分割は「根拠の有無」で判定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377440"/>
            <a:ext cx="46817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数量ドライバや派生率で説明できる行は、何時間でも分割しない。割るのは根拠が体感だけの固定工数の行で、12h（2人日）超のときだけ。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444752"/>
            <a:ext cx="5340096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719072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92224"/>
            <a:ext cx="4151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実績はフェーズ単位で記録する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6817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計画／実施／報告／FU の4分類だけを週次15分で記録し、原単位はフェーズ補正率から逆算して直す。タスク単位では取らない。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58768"/>
            <a:ext cx="5340096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" y="4133088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4206240"/>
            <a:ext cx="4151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乖離の理由を3分類で残す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791456"/>
            <a:ext cx="46817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①前提数量の変化　②原単位の誤り　③想定外事象。原単位を直すのは②だけ。①③で直すと数字が壊れる。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858768"/>
            <a:ext cx="5340096" cy="221284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4133088"/>
            <a:ext cx="402336" cy="402336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06240"/>
            <a:ext cx="41513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管理・バッファは分離計上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91456"/>
            <a:ext cx="468172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見積りでも実績でも分けて持つ。合算すると、どこに改善余地があるのか永久に見えない。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実績は「タスク単位」で取らない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5341467" cy="21396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1609344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✕　タスク単位で毎日記録する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048256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・後回しになり、月末の「思い出し記入」になる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2377440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・テストと調書の境界で迷う時間そのものが負荷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706624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・並行案件の按分が入ると精度が落ちる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035808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・見積り値に無意識に寄せて書く（最も致命的）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389888"/>
            <a:ext cx="5341467" cy="2139696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5051" y="1609344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○　フェーズ4分類・週次15分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5051" y="2048256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・記録するのは 計画／実施／報告／FU の4行だけ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5051" y="2377440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・往査・ヒアリング・講評会はカレンダーに実測が残る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5051" y="2706624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・数量ドライバの実績は調書から後で数えられる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5051" y="3035808"/>
            <a:ext cx="46830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・タスク別±50%より、フェーズ合計±20%が有用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49039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原単位はこう直す（逆算）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96512"/>
            <a:ext cx="3401568" cy="11155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7939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① フェーズ実績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8608" y="423367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50.0h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908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記録したのはこの1行だけ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44805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96512"/>
            <a:ext cx="3401568" cy="111556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427939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② マスタの理論値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23367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42.0h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6908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2.0×3 ＋ 3.0×4 ＋ 0.4×45 ＋ 6.0×1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4480560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096512"/>
            <a:ext cx="3401568" cy="1115568"/>
          </a:xfrm>
          <a:prstGeom prst="roundRect">
            <a:avLst>
              <a:gd name="adj" fmla="val 6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27939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③ フェーズ補正率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8" y="4233672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1.19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6908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① ÷ ②　を案件ごとに貯める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413248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個々の原単位は動かさず、補正率だけを貯める。3〜5件たまったら一律で改定し、件数がバラついた案件が5件揃えば単回帰で「0.4h/件」自体を検証できる。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42432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改定対象は、工数の8割を占める3タスク（証憑テスト・報告書ドラフト・ヒアリング）だけに絞る。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11002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297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運用：3枚のシートで回す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44752"/>
            <a:ext cx="3484778" cy="239572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" y="1682496"/>
            <a:ext cx="28629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① 原単位マスタ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048256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7C8A"/>
                </a:solidFill>
                <a:latin typeface="Yu Gothic"/>
                <a:ea typeface="Yu Gothic"/>
                <a:cs typeface="Yu Gothic"/>
              </a:rPr>
              <a:t>タスク名／ドライバ種別／原単位(h)／改定日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944368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全案件の共通辞書。個人が勝手に書き換えず、年1回まとめて改定する。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3458" y="1444752"/>
            <a:ext cx="3484778" cy="239572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4354" y="1682496"/>
            <a:ext cx="28629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② 案件見積りシート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4354" y="2048256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7C8A"/>
                </a:solidFill>
                <a:latin typeface="Yu Gothic"/>
                <a:ea typeface="Yu Gothic"/>
                <a:cs typeface="Yu Gothic"/>
              </a:rPr>
              <a:t>案件ID／WBSコード／数量／原単位／係数／調整後(h)／担当区分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4354" y="2944368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①を参照して自動計算。担当区分を持たせると要員計画にそのまま展開できる。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444752"/>
            <a:ext cx="3484778" cy="239572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 w="12700">
            <a:solidFill>
              <a:srgbClr val="D3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23452" y="1682496"/>
            <a:ext cx="28629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③ 実績突合シート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452" y="2048256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4E7C8A"/>
                </a:solidFill>
                <a:latin typeface="Yu Gothic"/>
                <a:ea typeface="Yu Gothic"/>
                <a:cs typeface="Yu Gothic"/>
              </a:rPr>
              <a:t>案件×フェーズの4行／見積(h)／実績(h)／補正率／乖離理由コード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3452" y="2944368"/>
            <a:ext cx="286298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週次15分で埋める。ここが①を改定する唯一の入力源になる。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回し方（年間サイクル）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72000"/>
            <a:ext cx="2373553" cy="932688"/>
          </a:xfrm>
          <a:prstGeom prst="roundRect">
            <a:avLst>
              <a:gd name="adj" fmla="val 12000"/>
            </a:avLst>
          </a:prstGeom>
          <a:solidFill>
            <a:srgbClr val="E4EDF0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36592"/>
            <a:ext cx="2373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見積る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47488"/>
            <a:ext cx="23735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案件開始前に②を作成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2777" y="4864608"/>
            <a:ext cx="393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0833" y="4572000"/>
            <a:ext cx="2373553" cy="932688"/>
          </a:xfrm>
          <a:prstGeom prst="roundRect">
            <a:avLst>
              <a:gd name="adj" fmla="val 12000"/>
            </a:avLst>
          </a:prstGeom>
          <a:solidFill>
            <a:srgbClr val="E4EDF0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0833" y="4736592"/>
            <a:ext cx="2373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記録する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0833" y="5047488"/>
            <a:ext cx="23735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週次15分・フェーズ単位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9251" y="4864608"/>
            <a:ext cx="393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7307" y="4572000"/>
            <a:ext cx="2373553" cy="932688"/>
          </a:xfrm>
          <a:prstGeom prst="roundRect">
            <a:avLst>
              <a:gd name="adj" fmla="val 12000"/>
            </a:avLst>
          </a:prstGeom>
          <a:solidFill>
            <a:srgbClr val="E4EDF0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7307" y="4736592"/>
            <a:ext cx="2373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突合する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7307" y="5047488"/>
            <a:ext cx="23735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③で補正率と理由を確認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5725" y="4864608"/>
            <a:ext cx="3931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3781" y="4572000"/>
            <a:ext cx="2373553" cy="932688"/>
          </a:xfrm>
          <a:prstGeom prst="roundRect">
            <a:avLst>
              <a:gd name="adj" fmla="val 12000"/>
            </a:avLst>
          </a:prstGeom>
          <a:solidFill>
            <a:srgbClr val="FBEEE2"/>
          </a:solidFill>
          <a:ln w="12700">
            <a:solidFill>
              <a:srgbClr val="C2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3781" y="4736592"/>
            <a:ext cx="237355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1303A"/>
                </a:solidFill>
                <a:latin typeface="Yu Gothic"/>
                <a:ea typeface="Yu Gothic"/>
                <a:cs typeface="Yu Gothic"/>
              </a:rPr>
              <a:t>改定する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3781" y="5047488"/>
            <a:ext cx="23735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補正率が安定したら①へ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742432"/>
            <a:ext cx="11002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このサイクルを1周させて初めて、見積りは「数字」になる。初年度は精度より記録の徹底を優先する。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382512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A82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5E00"/>
                </a:solidFill>
                <a:latin typeface="Yu Gothic"/>
                <a:ea typeface="Yu Gothic"/>
                <a:cs typeface="Yu Gothic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次のステップ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212848"/>
            <a:ext cx="420624" cy="420624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9456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原単位の初期値を実態に寄せる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578608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直近3件の実績（往査日数・サンプル件数・指摘数・かかった時間の体感）を共有ください。それをもとに、このカタログの数字を差し替えます。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419856"/>
            <a:ext cx="420624" cy="420624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01568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テンプレート3枚を配布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785615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原単位マスタ／案件見積りシート／実績突合シート。数式は入れた状態で配ります。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626864"/>
            <a:ext cx="420624" cy="420624"/>
          </a:xfrm>
          <a:prstGeom prst="ellipse">
            <a:avLst/>
          </a:prstGeom>
          <a:solidFill>
            <a:srgbClr val="C2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608576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次回監査から試行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992624"/>
            <a:ext cx="9692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BEC7"/>
                </a:solidFill>
                <a:latin typeface="Yu Gothic"/>
                <a:ea typeface="Yu Gothic"/>
                <a:cs typeface="Yu Gothic"/>
              </a:rPr>
              <a:t>完璧な見積りは狙わない。見積りと実績を必ずセットで残すことだけを徹底します。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69280"/>
            <a:ext cx="10545775" cy="658368"/>
          </a:xfrm>
          <a:prstGeom prst="roundRect">
            <a:avLst>
              <a:gd name="adj" fmla="val 6000"/>
            </a:avLst>
          </a:prstGeom>
          <a:solidFill>
            <a:srgbClr val="1E2E37"/>
          </a:solidFill>
          <a:ln w="12700">
            <a:solidFill>
              <a:srgbClr val="4E7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8704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議論したい点：稼働率85%は妥当か／サンプル件数の決め方／管理25%の水準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